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2"/>
  </p:notesMasterIdLst>
  <p:sldIdLst>
    <p:sldId id="256" r:id="rId2"/>
    <p:sldId id="257" r:id="rId3"/>
    <p:sldId id="259" r:id="rId4"/>
    <p:sldId id="264" r:id="rId5"/>
    <p:sldId id="263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43"/>
    <p:restoredTop sz="81078"/>
  </p:normalViewPr>
  <p:slideViewPr>
    <p:cSldViewPr snapToGrid="0">
      <p:cViewPr varScale="1">
        <p:scale>
          <a:sx n="129" d="100"/>
          <a:sy n="129" d="100"/>
        </p:scale>
        <p:origin x="2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UMS%20Data\Conference%20ISPRS\LUC%20and%20LST\LUC%20classific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'LUC change'!$I$12</c:f>
              <c:strCache>
                <c:ptCount val="1"/>
                <c:pt idx="0">
                  <c:v>Built-up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diamond"/>
            <c:size val="4"/>
            <c:spPr>
              <a:solidFill>
                <a:schemeClr val="accent1"/>
              </a:solidFill>
              <a:ln w="76200">
                <a:solidFill>
                  <a:schemeClr val="accent1"/>
                </a:solidFill>
                <a:prstDash val="sysDash"/>
                <a:round/>
              </a:ln>
              <a:effectLst/>
            </c:spPr>
          </c:marker>
          <c:dPt>
            <c:idx val="1"/>
            <c:marker>
              <c:symbol val="diamond"/>
              <c:size val="4"/>
              <c:spPr>
                <a:solidFill>
                  <a:srgbClr val="FF0000"/>
                </a:solidFill>
                <a:ln w="76200">
                  <a:solidFill>
                    <a:srgbClr val="FF0000"/>
                  </a:solidFill>
                  <a:prstDash val="sysDash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CCE-914D-AB17-9AE8BD974A1C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bg2"/>
                </a:solidFill>
                <a:ln w="76200">
                  <a:solidFill>
                    <a:schemeClr val="accent1"/>
                  </a:solidFill>
                  <a:prstDash val="sysDash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CCE-914D-AB17-9AE8BD974A1C}"/>
              </c:ext>
            </c:extLst>
          </c:dPt>
          <c:cat>
            <c:numRef>
              <c:f>'LUC change'!$H$13:$H$15</c:f>
              <c:numCache>
                <c:formatCode>General</c:formatCode>
                <c:ptCount val="3"/>
                <c:pt idx="0">
                  <c:v>1998</c:v>
                </c:pt>
                <c:pt idx="1">
                  <c:v>2010</c:v>
                </c:pt>
                <c:pt idx="2">
                  <c:v>2021</c:v>
                </c:pt>
              </c:numCache>
            </c:numRef>
          </c:cat>
          <c:val>
            <c:numRef>
              <c:f>'LUC change'!$I$13:$I$15</c:f>
              <c:numCache>
                <c:formatCode>0.00</c:formatCode>
                <c:ptCount val="3"/>
                <c:pt idx="0">
                  <c:v>27.567530999999999</c:v>
                </c:pt>
                <c:pt idx="1">
                  <c:v>34.196818999999998</c:v>
                </c:pt>
                <c:pt idx="2">
                  <c:v>38.23227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CE-914D-AB17-9AE8BD974A1C}"/>
            </c:ext>
          </c:extLst>
        </c:ser>
        <c:ser>
          <c:idx val="1"/>
          <c:order val="1"/>
          <c:tx>
            <c:strRef>
              <c:f>'LUC change'!$J$12</c:f>
              <c:strCache>
                <c:ptCount val="1"/>
                <c:pt idx="0">
                  <c:v>Vegetation</c:v>
                </c:pt>
              </c:strCache>
            </c:strRef>
          </c:tx>
          <c:spPr>
            <a:ln w="38100" cap="rnd">
              <a:solidFill>
                <a:srgbClr val="00B050"/>
              </a:solidFill>
              <a:prstDash val="sysDot"/>
              <a:round/>
            </a:ln>
            <a:effectLst/>
          </c:spPr>
          <c:marker>
            <c:symbol val="square"/>
            <c:size val="4"/>
            <c:spPr>
              <a:solidFill>
                <a:schemeClr val="accent2"/>
              </a:solidFill>
              <a:ln w="76200">
                <a:solidFill>
                  <a:srgbClr val="00B050"/>
                </a:solidFill>
                <a:prstDash val="sysDot"/>
                <a:round/>
              </a:ln>
              <a:effectLst/>
            </c:spPr>
          </c:marker>
          <c:cat>
            <c:numRef>
              <c:f>'LUC change'!$H$13:$H$15</c:f>
              <c:numCache>
                <c:formatCode>General</c:formatCode>
                <c:ptCount val="3"/>
                <c:pt idx="0">
                  <c:v>1998</c:v>
                </c:pt>
                <c:pt idx="1">
                  <c:v>2010</c:v>
                </c:pt>
                <c:pt idx="2">
                  <c:v>2021</c:v>
                </c:pt>
              </c:numCache>
            </c:numRef>
          </c:cat>
          <c:val>
            <c:numRef>
              <c:f>'LUC change'!$J$13:$J$15</c:f>
              <c:numCache>
                <c:formatCode>0.00</c:formatCode>
                <c:ptCount val="3"/>
                <c:pt idx="0">
                  <c:v>26.003128</c:v>
                </c:pt>
                <c:pt idx="1">
                  <c:v>31.821508000000001</c:v>
                </c:pt>
                <c:pt idx="2">
                  <c:v>35.990318000000002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CCE-914D-AB17-9AE8BD974A1C}"/>
            </c:ext>
          </c:extLst>
        </c:ser>
        <c:ser>
          <c:idx val="2"/>
          <c:order val="2"/>
          <c:tx>
            <c:strRef>
              <c:f>'LUC change'!$K$12</c:f>
              <c:strCache>
                <c:ptCount val="1"/>
                <c:pt idx="0">
                  <c:v>Water</c:v>
                </c:pt>
              </c:strCache>
            </c:strRef>
          </c:tx>
          <c:spPr>
            <a:ln w="38100" cap="rnd">
              <a:solidFill>
                <a:schemeClr val="accent1"/>
              </a:solidFill>
              <a:prstDash val="lgDashDotDot"/>
              <a:round/>
            </a:ln>
            <a:effectLst/>
          </c:spPr>
          <c:marker>
            <c:symbol val="triangle"/>
            <c:size val="4"/>
            <c:spPr>
              <a:solidFill>
                <a:schemeClr val="accent3"/>
              </a:solidFill>
              <a:ln w="76200">
                <a:solidFill>
                  <a:schemeClr val="accent1"/>
                </a:solidFill>
                <a:round/>
              </a:ln>
              <a:effectLst/>
            </c:spPr>
          </c:marker>
          <c:cat>
            <c:numRef>
              <c:f>'LUC change'!$H$13:$H$15</c:f>
              <c:numCache>
                <c:formatCode>General</c:formatCode>
                <c:ptCount val="3"/>
                <c:pt idx="0">
                  <c:v>1998</c:v>
                </c:pt>
                <c:pt idx="1">
                  <c:v>2010</c:v>
                </c:pt>
                <c:pt idx="2">
                  <c:v>2021</c:v>
                </c:pt>
              </c:numCache>
            </c:numRef>
          </c:cat>
          <c:val>
            <c:numRef>
              <c:f>'LUC change'!$K$13:$K$15</c:f>
              <c:numCache>
                <c:formatCode>0.00</c:formatCode>
                <c:ptCount val="3"/>
                <c:pt idx="0">
                  <c:v>26.059964000000001</c:v>
                </c:pt>
                <c:pt idx="1">
                  <c:v>29.991847</c:v>
                </c:pt>
                <c:pt idx="2">
                  <c:v>30.480236999999999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CCE-914D-AB17-9AE8BD974A1C}"/>
            </c:ext>
          </c:extLst>
        </c:ser>
        <c:ser>
          <c:idx val="3"/>
          <c:order val="3"/>
          <c:tx>
            <c:strRef>
              <c:f>'LUC change'!$L$12</c:f>
              <c:strCache>
                <c:ptCount val="1"/>
                <c:pt idx="0">
                  <c:v>Soil</c:v>
                </c:pt>
              </c:strCache>
            </c:strRef>
          </c:tx>
          <c:spPr>
            <a:ln w="38100" cap="rnd">
              <a:solidFill>
                <a:srgbClr val="FFC000"/>
              </a:solidFill>
              <a:prstDash val="sysDot"/>
              <a:round/>
            </a:ln>
            <a:effectLst/>
          </c:spPr>
          <c:marker>
            <c:symbol val="x"/>
            <c:size val="4"/>
            <c:spPr>
              <a:noFill/>
              <a:ln w="76200">
                <a:solidFill>
                  <a:srgbClr val="FFC000"/>
                </a:solidFill>
                <a:prstDash val="sysDot"/>
                <a:round/>
              </a:ln>
              <a:effectLst/>
            </c:spPr>
          </c:marker>
          <c:cat>
            <c:numRef>
              <c:f>'LUC change'!$H$13:$H$15</c:f>
              <c:numCache>
                <c:formatCode>General</c:formatCode>
                <c:ptCount val="3"/>
                <c:pt idx="0">
                  <c:v>1998</c:v>
                </c:pt>
                <c:pt idx="1">
                  <c:v>2010</c:v>
                </c:pt>
                <c:pt idx="2">
                  <c:v>2021</c:v>
                </c:pt>
              </c:numCache>
            </c:numRef>
          </c:cat>
          <c:val>
            <c:numRef>
              <c:f>'LUC change'!$L$13:$L$15</c:f>
              <c:numCache>
                <c:formatCode>0.00</c:formatCode>
                <c:ptCount val="3"/>
                <c:pt idx="0">
                  <c:v>27.189619</c:v>
                </c:pt>
                <c:pt idx="1">
                  <c:v>33.780794</c:v>
                </c:pt>
                <c:pt idx="2">
                  <c:v>38.136752000000001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CCE-914D-AB17-9AE8BD974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7852544"/>
        <c:axId val="727854184"/>
      </c:lineChart>
      <c:catAx>
        <c:axId val="72785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854184"/>
        <c:crosses val="autoZero"/>
        <c:auto val="1"/>
        <c:lblAlgn val="ctr"/>
        <c:lblOffset val="100"/>
        <c:noMultiLvlLbl val="0"/>
      </c:catAx>
      <c:valAx>
        <c:axId val="727854184"/>
        <c:scaling>
          <c:orientation val="minMax"/>
          <c:min val="25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85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B5100-D209-2E4E-8DE4-1C117CEF9398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548F4-F11D-674F-A528-F7DC620FB6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98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8F4-F11D-674F-A528-F7DC620FB6F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38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8F4-F11D-674F-A528-F7DC620FB6F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00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06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16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8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4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4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7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59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50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194/isprs-archives-xlviii-4-w5-2022-25-202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FC0E8C-EA8C-6BB8-1054-9659519A47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0156" b="58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C461ED-68F5-12A3-CD2F-335885E90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600" dirty="0">
                <a:solidFill>
                  <a:srgbClr val="FFFFFF"/>
                </a:solidFill>
              </a:rPr>
              <a:t>LULC and LST Variation in Lahore from 1998 - 2021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3117E-8110-F6F6-6CAC-5E4B11883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Muhammad Abdul Rahman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517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4B05-3818-15E2-7DDF-51998EF6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28671-12A3-B442-FA0F-F84A4945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302" y="2468881"/>
            <a:ext cx="10890928" cy="4672584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Lahore has seen a rapid growth in urban population from 5.14 million to 11.12 million between 1998 and 2017, a 116 % percent increase.</a:t>
            </a:r>
          </a:p>
          <a:p>
            <a:pPr algn="just"/>
            <a:r>
              <a:rPr lang="en-GB" dirty="0"/>
              <a:t>This urbanization has been accompanied by a change in Land Use/Land Cover (LULC), replacing agricultural and vegetation lands with built-up areas.</a:t>
            </a:r>
          </a:p>
          <a:p>
            <a:pPr algn="just"/>
            <a:r>
              <a:rPr lang="en-GB" dirty="0"/>
              <a:t>Consequently, this has led to an increase in Land Surface Temperature (LST) and the formation of an Urban Heat Island (UHI).</a:t>
            </a:r>
          </a:p>
          <a:p>
            <a:pPr algn="just"/>
            <a:r>
              <a:rPr lang="en-GB" dirty="0"/>
              <a:t>Even though it is quite stark, few studies have focused on this phenomenon in developing countries, especially Pakistan.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40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0A566-9714-9F9A-7491-E1661A12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73" y="4950538"/>
            <a:ext cx="10618381" cy="6855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dirty="0"/>
              <a:t>Lahore Over the Years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1DDE8F-5FA1-4E96-5412-412694961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6" y="789980"/>
            <a:ext cx="3409060" cy="31192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791C51-B091-58E4-A936-AA1C80C60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470" y="789980"/>
            <a:ext cx="3409060" cy="31192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E84A3-FA98-8333-DC35-66F4B8FA9D9F}"/>
              </a:ext>
            </a:extLst>
          </p:cNvPr>
          <p:cNvSpPr txBox="1"/>
          <p:nvPr/>
        </p:nvSpPr>
        <p:spPr>
          <a:xfrm>
            <a:off x="1633333" y="4086148"/>
            <a:ext cx="69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1998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83CD4B-5132-03D0-4696-8FA5F2C5CD96}"/>
              </a:ext>
            </a:extLst>
          </p:cNvPr>
          <p:cNvSpPr txBox="1"/>
          <p:nvPr/>
        </p:nvSpPr>
        <p:spPr>
          <a:xfrm>
            <a:off x="5747027" y="4086148"/>
            <a:ext cx="69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66A07A-AB88-C985-B112-24036B1641C5}"/>
              </a:ext>
            </a:extLst>
          </p:cNvPr>
          <p:cNvSpPr txBox="1"/>
          <p:nvPr/>
        </p:nvSpPr>
        <p:spPr>
          <a:xfrm>
            <a:off x="9860721" y="4086148"/>
            <a:ext cx="69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2021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6E6A742-5759-D859-A5F2-B3CC5B4E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163" y="789619"/>
            <a:ext cx="3409061" cy="311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6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E38D-4306-1055-C51D-CB8E5735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A635-9CB5-B707-C792-EA4C523F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Developments in the availability of satellite imagery and remote sensing software have made it possible to focus on these regions as well.</a:t>
            </a:r>
          </a:p>
          <a:p>
            <a:pPr algn="just"/>
            <a:r>
              <a:rPr lang="en-GB" dirty="0"/>
              <a:t>In their paper, </a:t>
            </a:r>
            <a:r>
              <a:rPr lang="en-GB" i="1" dirty="0"/>
              <a:t>Spatiotemporal Analysis of Urban Growth and Land Surface Temperature: A Case Study of Lahore, Pakistan</a:t>
            </a:r>
            <a:r>
              <a:rPr lang="en-GB" dirty="0"/>
              <a:t>, Basheer et al. focus on quantifying LULC and LST changes.</a:t>
            </a:r>
            <a:endParaRPr lang="en-GB" i="1" dirty="0"/>
          </a:p>
          <a:p>
            <a:pPr algn="just"/>
            <a:r>
              <a:rPr lang="en-GB" dirty="0"/>
              <a:t>They use Landsat 5 and 8 images for predicting soil, water, vegetation, and built-up areas using supervised classification and traditional remote sensing methods for LST calculations.</a:t>
            </a:r>
          </a:p>
          <a:p>
            <a:pPr algn="just"/>
            <a:r>
              <a:rPr lang="en-GB" dirty="0"/>
              <a:t>These quantifications help identify unchecked urbanization and are the first step towards remedial measures.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156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35B30-91A8-C0DF-722C-1F4E8FEC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325BC4-1714-4082-6B8D-4955E0354DDC}"/>
              </a:ext>
            </a:extLst>
          </p:cNvPr>
          <p:cNvSpPr txBox="1">
            <a:spLocks/>
          </p:cNvSpPr>
          <p:nvPr/>
        </p:nvSpPr>
        <p:spPr>
          <a:xfrm>
            <a:off x="640080" y="1371600"/>
            <a:ext cx="573785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LULC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F3EF-68FA-D165-4F2E-CE8655F7C673}"/>
              </a:ext>
            </a:extLst>
          </p:cNvPr>
          <p:cNvSpPr txBox="1">
            <a:spLocks/>
          </p:cNvSpPr>
          <p:nvPr/>
        </p:nvSpPr>
        <p:spPr>
          <a:xfrm>
            <a:off x="640079" y="2633234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The built-up area in Lahore has grown a staggering 29 % during the study period.</a:t>
            </a:r>
          </a:p>
          <a:p>
            <a:pPr algn="just"/>
            <a:r>
              <a:rPr lang="en-US" dirty="0"/>
              <a:t>In contrast, vegetation, waterbodies, and soil all decreased by 20, 8, and 3 percent, respectively, from 1998 to 2021.</a:t>
            </a:r>
          </a:p>
          <a:p>
            <a:pPr algn="just"/>
            <a:r>
              <a:rPr lang="en-US" dirty="0"/>
              <a:t>Generally, a greater change was seen in the 2010 – 2021 years compared to 1998 - 2010.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4125D21-B0EC-DAC8-2E0F-C25D9EB01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7939" y="1031001"/>
            <a:ext cx="5632702" cy="49286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852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4FE00-42BA-68AC-208A-96940A9C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C622C-2132-BB27-9F4A-F368A8EB91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"/>
          <a:stretch/>
        </p:blipFill>
        <p:spPr bwMode="auto">
          <a:xfrm>
            <a:off x="20" y="535709"/>
            <a:ext cx="8229580" cy="582064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55AB1A9-AA10-BD96-B419-3408A4DA0768}"/>
              </a:ext>
            </a:extLst>
          </p:cNvPr>
          <p:cNvSpPr txBox="1">
            <a:spLocks/>
          </p:cNvSpPr>
          <p:nvPr/>
        </p:nvSpPr>
        <p:spPr>
          <a:xfrm>
            <a:off x="8719126" y="979051"/>
            <a:ext cx="2811879" cy="18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/>
              <a:t>LST Variation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13D84-62B3-10C5-3B8B-165241CA035B}"/>
              </a:ext>
            </a:extLst>
          </p:cNvPr>
          <p:cNvSpPr txBox="1"/>
          <p:nvPr/>
        </p:nvSpPr>
        <p:spPr>
          <a:xfrm>
            <a:off x="8719127" y="2922624"/>
            <a:ext cx="2899715" cy="3409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In 1998, 2010, and 2021, the average LST was 26.52°C, 32.87°C, and 37.40°C, respectively.</a:t>
            </a:r>
          </a:p>
          <a:p>
            <a:pPr marL="285750" indent="-285750" algn="just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Overall, Lahore saw an average increase of 0.47 °C per year.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48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63E0-9D42-9868-B26A-AF57CC8F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8E5571-BDE6-E5FB-7279-BA5084BE0133}"/>
              </a:ext>
            </a:extLst>
          </p:cNvPr>
          <p:cNvSpPr txBox="1">
            <a:spLocks/>
          </p:cNvSpPr>
          <p:nvPr/>
        </p:nvSpPr>
        <p:spPr>
          <a:xfrm>
            <a:off x="713232" y="317129"/>
            <a:ext cx="6178163" cy="1171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LULC and LST Interaction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BE913-B83A-2C2C-E11D-815209D4D1DF}"/>
              </a:ext>
            </a:extLst>
          </p:cNvPr>
          <p:cNvSpPr txBox="1"/>
          <p:nvPr/>
        </p:nvSpPr>
        <p:spPr>
          <a:xfrm>
            <a:off x="8406315" y="1927110"/>
            <a:ext cx="3113433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UHI affects not only concrete structures but the natural environment as well.</a:t>
            </a:r>
          </a:p>
          <a:p>
            <a:pPr marL="285750" indent="-285750" algn="just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Unsurprisingly, built-up areas witnessed the greatest change in LST, followed by soil, vegetation, and water.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A12A17-5F2D-9147-1968-040037B6B1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3821368"/>
              </p:ext>
            </p:extLst>
          </p:nvPr>
        </p:nvGraphicFramePr>
        <p:xfrm>
          <a:off x="713232" y="1411421"/>
          <a:ext cx="7693083" cy="4605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628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A0B3D-0019-52DB-9DD5-42F5C9C0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/>
              <a:t>But The Question Is…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1085E-BA4C-8475-D62A-37C259754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4490100"/>
            <a:ext cx="10935429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100" b="1" cap="all" spc="300" dirty="0"/>
              <a:t>Is environmental degradation an inevitable part of urban growth? Can cities ever be “sustainable” in an ecological sense? What level is justified?</a:t>
            </a:r>
          </a:p>
          <a:p>
            <a:pPr algn="ctr"/>
            <a:r>
              <a:rPr lang="en-US" sz="1100" b="1" cap="all" spc="300" dirty="0"/>
              <a:t>What role can satellite imagery-driven methods play in data-scarce regions? Can they replace a census? A survey? Perhaps complement them?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3705-5420-3469-D7D9-02E2A43AE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B987B-9E1D-5BB2-E875-00484F96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Basheer, M. A., &amp; Waseem, M. A. (2022). Spatiotemporal analysis of urban growth and Land Surface Temperature: A case study of Lahore, Pakistan. The International Archives of the Photogrammetry, Remote Sensing and Spatial Information Sciences, XLVIII-4/W5-2022, 25–29. </a:t>
            </a:r>
            <a:r>
              <a:rPr lang="en-GB" dirty="0">
                <a:hlinkClick r:id="rId2"/>
              </a:rPr>
              <a:t>https://doi.org/10.5194/isprs-archives-xlviii-4-w5-2022-25-2022</a:t>
            </a:r>
            <a:r>
              <a:rPr lang="en-GB" dirty="0"/>
              <a:t>  </a:t>
            </a:r>
          </a:p>
        </p:txBody>
      </p:sp>
    </p:spTree>
    <p:extLst>
      <p:ext uri="{BB962C8B-B14F-4D97-AF65-F5344CB8AC3E}">
        <p14:creationId xmlns:p14="http://schemas.microsoft.com/office/powerpoint/2010/main" val="170352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13A1-8C9C-27BE-865F-0AEB2BFC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That’s all, Folks!</a:t>
            </a:r>
          </a:p>
        </p:txBody>
      </p:sp>
    </p:spTree>
    <p:extLst>
      <p:ext uri="{BB962C8B-B14F-4D97-AF65-F5344CB8AC3E}">
        <p14:creationId xmlns:p14="http://schemas.microsoft.com/office/powerpoint/2010/main" val="24423106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494</Words>
  <Application>Microsoft Macintosh PowerPoint</Application>
  <PresentationFormat>Widescreen</PresentationFormat>
  <Paragraphs>34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Grandview Display</vt:lpstr>
      <vt:lpstr>DashVTI</vt:lpstr>
      <vt:lpstr>LULC and LST Variation in Lahore from 1998 - 2021</vt:lpstr>
      <vt:lpstr>Background</vt:lpstr>
      <vt:lpstr>Lahore Over the Years</vt:lpstr>
      <vt:lpstr>Background</vt:lpstr>
      <vt:lpstr>PowerPoint Presentation</vt:lpstr>
      <vt:lpstr>PowerPoint Presentation</vt:lpstr>
      <vt:lpstr>PowerPoint Presentation</vt:lpstr>
      <vt:lpstr>But The Question Is…</vt:lpstr>
      <vt:lpstr>Citations</vt:lpstr>
      <vt:lpstr>That’s all, Folks!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Rahman, Muhammad Abdul</dc:creator>
  <cp:lastModifiedBy>Rahman, Muhammad Abdul</cp:lastModifiedBy>
  <cp:revision>14</cp:revision>
  <dcterms:created xsi:type="dcterms:W3CDTF">2025-02-17T15:21:14Z</dcterms:created>
  <dcterms:modified xsi:type="dcterms:W3CDTF">2025-02-19T23:54:12Z</dcterms:modified>
</cp:coreProperties>
</file>